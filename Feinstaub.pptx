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62" r:id="rId3"/>
    <p:sldId id="263" r:id="rId4"/>
    <p:sldId id="282" r:id="rId5"/>
    <p:sldId id="258" r:id="rId6"/>
    <p:sldId id="279" r:id="rId7"/>
    <p:sldId id="257" r:id="rId8"/>
    <p:sldId id="259" r:id="rId9"/>
    <p:sldId id="260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61" r:id="rId22"/>
    <p:sldId id="280" r:id="rId23"/>
    <p:sldId id="266" r:id="rId24"/>
    <p:sldId id="281" r:id="rId25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1B4E3"/>
    <a:srgbClr val="E5F5F7"/>
    <a:srgbClr val="F2E9E6"/>
    <a:srgbClr val="96D7DA"/>
    <a:srgbClr val="11607C"/>
    <a:srgbClr val="324D50"/>
    <a:srgbClr val="CE6060"/>
    <a:srgbClr val="D2C5BC"/>
    <a:srgbClr val="1113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120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CAF17-FE85-4830-B244-2C3D9050AC0D}" type="datetimeFigureOut">
              <a:rPr lang="en-DE" smtClean="0"/>
              <a:t>10/05/2026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6A2541-BFD1-430B-A419-79914E0C62C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92112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C73-42D5-93A7-7C63-1E07BDBE61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B8BDE1-09C2-39F4-328A-13321E3BD2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CE886D-1C24-72D9-5B22-68E1987F8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1A37F1-5E19-0D80-221F-E342E188A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A3B546-0FDC-E64B-3D8C-CD768F642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84801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2F2A6-1787-B196-0339-502E1A27E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4A360-300B-245E-99F4-EF5680998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C1AE8-83FC-063F-0329-65ACF6B7E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A1785E-1333-EB7E-FD17-4D3B80479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37F0F9-353C-240A-D0B1-42EEF63A0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469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EFC01-B0EF-EED4-55C2-FF1D3A101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3F358F-879F-027C-C116-7550AB811B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F27B1D-BA06-8CAE-4ACA-FB437C020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D017CE-B10A-8B2E-3386-21DE37D36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BAE2E8-C37D-1ECA-B6FA-0FD59A91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64334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42591-C088-C70C-1AFC-89229CCF3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74EC78-CBE4-EC96-EA74-7DDD4AD4D3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4D32B0-D0AE-6224-591A-6A5DB44526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00C85B-0461-A43C-1E7E-712B116FD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E5759B-A5FB-D807-BEB3-7B52E1571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B92329-7AC0-94B4-E912-481747436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50050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480E2-893A-1FB1-D639-4BC906E17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DAB050-13FF-1F71-BC66-5B57FF68B2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D79C8F-C74D-A68E-EB4A-0C44611E98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6CC4A7-A7B7-9E2D-0861-94854FE390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6805FC-DDEE-2D76-5621-7E4FC8D121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0D64E0D-1A3E-78BB-E1A6-5A979A0D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8FAA47-0DD2-D13A-A53C-A340CA9BE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DA5A07D-9610-DCF1-2386-6703ECB5C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015824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545D8-3EAF-015F-EBA2-C68DB5919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ECDE43-7A6B-8476-8919-370953B3F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A3222-7D0C-260B-F23D-7998EE735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C4BE6-EBD2-F3F1-14A8-D54824628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861553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E96409-CCFC-18E3-CBAA-1519EE8B5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F2BE3E-C6E6-A97D-5695-E4C8F8505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7B0B8E-3FED-13AB-9D10-FEB6610B2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00297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87D28-D56B-93AE-F060-33690270E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7EADC3-3E7E-3049-9811-D6E686D60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74F297-0E3F-5B88-7F10-98E9D32861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17CCBA-FB04-564A-78AB-BDEDDBAA0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E22DFD-E2C5-067D-74F2-E4BC0AF61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722782-EC5D-CBC6-9DB6-677511731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529496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2F9FA-A0CD-5FAE-662D-535D67A29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9FD16D-4E11-146C-05D5-43C7A2CFE5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6D0AFD-BB23-0EB7-A577-FB80557890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54BE82-168C-20BB-9D86-57852905B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6D0C65-EDC8-5C2E-7506-43C4DE433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619027-559A-4D13-AC32-1EB7ADD00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82026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82772-64EF-A358-D7CD-7F50E7153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A56485-1BB0-3112-ED18-1B3EB94258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30CB0-8EB0-B420-A837-C67783830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FCA2DB-1D09-6A24-1052-551FBC1A1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46C419-0CDB-2D0E-2145-E739E2F28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730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8300A57-0E4D-9E26-7C2B-23B80B6025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123206-8707-E2A9-5800-1428562383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F59F82-F122-0873-BB2E-5B5AFD17C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807AD1-CA3A-9312-8A40-9FD3DB4BD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6000D-C684-2BF2-1795-13BB681EB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25511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2CAE71-C276-3189-5104-958C5C8C1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9FBF42-FE92-CC28-5AE7-F221AEE300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F5E4BC-7FA5-3A5C-F8FF-46BF1A4FC8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C60685-A632-4D17-055F-AB4B5AFDA9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Feinstaub-Projekt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08EA7C-8E67-1E85-42ED-C19BA13289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1B8FB7-1C2B-4A91-97AE-137A4C47E94A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52474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2734C-4272-4BE0-013D-2B857D3981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FEINSTAUB-PROJEKT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1DC71A-819C-4011-145E-9BF32DFA40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F2E9E6"/>
                </a:solidFill>
              </a:rPr>
              <a:t>Dilara Ayhan, Tim-Lukas Dörnbrack, Lucas Kohlstedde, Noel Sauer</a:t>
            </a:r>
          </a:p>
        </p:txBody>
      </p:sp>
    </p:spTree>
    <p:extLst>
      <p:ext uri="{BB962C8B-B14F-4D97-AF65-F5344CB8AC3E}">
        <p14:creationId xmlns:p14="http://schemas.microsoft.com/office/powerpoint/2010/main" val="34369031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B9DAB-8D43-28C1-9742-552F37C5E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ZIEL DES PROJEKTS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3438A-5649-827E-D638-6B2AD13E0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F2E9E6"/>
                </a:solidFill>
              </a:rPr>
              <a:t>Aufbau einer strukturierten Datenbank zur Speicherung von Messdaten</a:t>
            </a:r>
          </a:p>
          <a:p>
            <a:r>
              <a:rPr lang="de-DE" noProof="0" dirty="0">
                <a:solidFill>
                  <a:srgbClr val="F2E9E6"/>
                </a:solidFill>
              </a:rPr>
              <a:t>Wetterdaten und Luftqualitätsdaten</a:t>
            </a:r>
          </a:p>
          <a:p>
            <a:r>
              <a:rPr lang="de-DE" noProof="0" dirty="0">
                <a:solidFill>
                  <a:srgbClr val="F2E9E6"/>
                </a:solidFill>
              </a:rPr>
              <a:t>Import großer Mengen vorhandener CSV-Daten in eine SQLite-Datenbank</a:t>
            </a:r>
          </a:p>
          <a:p>
            <a:r>
              <a:rPr lang="de-DE" noProof="0" dirty="0">
                <a:solidFill>
                  <a:srgbClr val="F2E9E6"/>
                </a:solidFill>
              </a:rPr>
              <a:t>Arbeitsweise mit Git und Python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9E177-CC65-707D-B188-0F2042523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13A03-6D28-FBE0-5242-F041E67A8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E4C193-A44C-1863-97FA-7F1DED06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2</a:t>
            </a:fld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7C9627-E4B6-0375-5C4C-7BAFCDC41AF2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23984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E7CD8-2826-3FC9-76C8-97B47E349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PROJEKTABLAUF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675F1A-8A6B-DFBF-2B19-830B1C96F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noProof="0" dirty="0">
                <a:solidFill>
                  <a:srgbClr val="F2E9E6"/>
                </a:solidFill>
              </a:rPr>
              <a:t>Pflichtenheft</a:t>
            </a:r>
          </a:p>
          <a:p>
            <a:pPr marL="514350" indent="-514350">
              <a:buFont typeface="+mj-lt"/>
              <a:buAutoNum type="arabicPeriod"/>
            </a:pPr>
            <a:r>
              <a:rPr lang="de-DE" noProof="0" dirty="0">
                <a:solidFill>
                  <a:srgbClr val="F2E9E6"/>
                </a:solidFill>
              </a:rPr>
              <a:t>Entity-Relationship- und Relationenmodell</a:t>
            </a:r>
          </a:p>
          <a:p>
            <a:pPr marL="514350" indent="-514350">
              <a:buFont typeface="+mj-lt"/>
              <a:buAutoNum type="arabicPeriod"/>
            </a:pPr>
            <a:r>
              <a:rPr lang="de-DE" noProof="0" dirty="0">
                <a:solidFill>
                  <a:srgbClr val="F2E9E6"/>
                </a:solidFill>
              </a:rPr>
              <a:t>Git-Repository zur Sicherung</a:t>
            </a:r>
          </a:p>
          <a:p>
            <a:pPr marL="514350" indent="-514350">
              <a:buFont typeface="+mj-lt"/>
              <a:buAutoNum type="arabicPeriod"/>
            </a:pPr>
            <a:r>
              <a:rPr lang="de-DE" noProof="0" dirty="0">
                <a:solidFill>
                  <a:srgbClr val="F2E9E6"/>
                </a:solidFill>
              </a:rPr>
              <a:t>SQL-Tabellen mit CREATE TABLE</a:t>
            </a:r>
          </a:p>
          <a:p>
            <a:pPr marL="514350" indent="-514350">
              <a:buFont typeface="+mj-lt"/>
              <a:buAutoNum type="arabicPeriod"/>
            </a:pPr>
            <a:r>
              <a:rPr lang="de-DE" noProof="0" dirty="0">
                <a:solidFill>
                  <a:srgbClr val="F2E9E6"/>
                </a:solidFill>
              </a:rPr>
              <a:t>CSV-Daten für 2023 mit Python-Programm in Datenbank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5B802A-D30A-BF3A-727E-8627BA35F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E9DAA-9912-C0BE-57E9-2D063AC6A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A12B2-29D0-481E-3CAB-D964A6BB1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3</a:t>
            </a:fld>
            <a:endParaRPr lang="en-DE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C7FE40E-6EEE-0AFD-037C-C1B970ECD53F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2322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48A2E-CE9F-1376-0E9B-126748D90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D25C7-E2B4-3434-1FE3-1C7C4E84C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PFLICHTENHEFT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73017-F19B-92F5-B3DE-429A23468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5454B-DE0F-8280-193A-E0C70F05D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49AA09-D6EC-E4C0-F720-621278F37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4</a:t>
            </a:fld>
            <a:endParaRPr lang="en-DE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35F0718-6BFA-FD42-9331-60160881B220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3A64B540-62D2-D284-F32E-20FDFE2B88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913" y="1690689"/>
            <a:ext cx="5741348" cy="3121592"/>
          </a:xfrm>
          <a:prstGeom prst="rect">
            <a:avLst/>
          </a:prstGeom>
          <a:ln w="19050">
            <a:solidFill>
              <a:srgbClr val="31B4E3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A9450FC-0DC6-468F-5444-A813F89420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0956" y="1690688"/>
            <a:ext cx="4582844" cy="4400139"/>
          </a:xfrm>
          <a:prstGeom prst="rect">
            <a:avLst/>
          </a:prstGeom>
          <a:ln w="19050">
            <a:solidFill>
              <a:srgbClr val="31B4E3"/>
            </a:solidFill>
          </a:ln>
        </p:spPr>
      </p:pic>
    </p:spTree>
    <p:extLst>
      <p:ext uri="{BB962C8B-B14F-4D97-AF65-F5344CB8AC3E}">
        <p14:creationId xmlns:p14="http://schemas.microsoft.com/office/powerpoint/2010/main" val="590665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F0EB7-8812-D41D-D643-3B5ACB5A3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2DDA1-1A0F-6BC1-4F0C-8E550B4B3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ENTITY-RELATIONSHIP-MODELL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634700-7F05-B5FC-B082-5574D449C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2F1443-7BD8-9D6B-EB4C-2F10EE3EF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346643-99CA-AED3-8984-7C78C0B4E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5</a:t>
            </a:fld>
            <a:endParaRPr lang="en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F40614-B1A5-3030-D584-B4F1081B0B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6901" y="1690687"/>
            <a:ext cx="4996898" cy="3646591"/>
          </a:xfrm>
          <a:prstGeom prst="rect">
            <a:avLst/>
          </a:prstGeom>
          <a:ln w="19050">
            <a:solidFill>
              <a:srgbClr val="31B4E3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E942EA-B269-F330-6F7D-B6CD5B4CEC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222" y="1690687"/>
            <a:ext cx="5126183" cy="3646591"/>
          </a:xfrm>
          <a:prstGeom prst="rect">
            <a:avLst/>
          </a:prstGeom>
          <a:ln w="19050">
            <a:solidFill>
              <a:srgbClr val="31B4E3"/>
            </a:solidFill>
          </a:ln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E791342-CDC4-7379-6C24-8292024F30DF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04639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EAE54-362F-FE98-3344-AEFBC1775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34D75-A1B3-7911-65F1-91F7BDAA9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RELATIONENMODELL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8EFF4-43B9-2E7B-BBAA-42776A8016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2978" cy="4351338"/>
          </a:xfrm>
        </p:spPr>
        <p:txBody>
          <a:bodyPr/>
          <a:lstStyle/>
          <a:p>
            <a:r>
              <a:rPr lang="de-DE" noProof="0" dirty="0">
                <a:solidFill>
                  <a:srgbClr val="F2E9E6"/>
                </a:solidFill>
              </a:rPr>
              <a:t>Auf Basis der ER-Modelle</a:t>
            </a:r>
          </a:p>
          <a:p>
            <a:r>
              <a:rPr lang="de-DE" noProof="0" dirty="0">
                <a:solidFill>
                  <a:srgbClr val="F2E9E6"/>
                </a:solidFill>
              </a:rPr>
              <a:t>Keine Verbindungen, da es keine Relationen von air_quality zu weather gibt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2E0E38-061A-99DB-944A-86CB70D0E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9D143D-9F71-2FFD-EB87-E0D56DE0F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CA5010-F90C-7557-A182-146933CF1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6</a:t>
            </a:fld>
            <a:endParaRPr lang="en-D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C41EAB-AD0E-FCD9-4287-3000E7458C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11" t="27272" r="8660" b="24647"/>
          <a:stretch>
            <a:fillRect/>
          </a:stretch>
        </p:blipFill>
        <p:spPr>
          <a:xfrm rot="5400000">
            <a:off x="4825145" y="3096479"/>
            <a:ext cx="4351339" cy="1809630"/>
          </a:xfrm>
          <a:prstGeom prst="rect">
            <a:avLst/>
          </a:prstGeom>
          <a:ln w="19050">
            <a:solidFill>
              <a:srgbClr val="31B4E3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C534453-F68B-7234-0957-89F4656EFF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035" t="7317" r="19044" b="11498"/>
          <a:stretch>
            <a:fillRect/>
          </a:stretch>
        </p:blipFill>
        <p:spPr>
          <a:xfrm>
            <a:off x="8284394" y="1826440"/>
            <a:ext cx="2408658" cy="4350523"/>
          </a:xfrm>
          <a:prstGeom prst="rect">
            <a:avLst/>
          </a:prstGeom>
          <a:ln w="19050">
            <a:solidFill>
              <a:srgbClr val="31B4E3"/>
            </a:solidFill>
          </a:ln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A9E89FE-52C6-2227-16CF-74E2106CDE09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3693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901F9-7BE9-88CD-7F73-F045E8805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GIT-REPOSITORY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7CEC5E-D107-789B-810C-18B7506F3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15061" cy="4351338"/>
          </a:xfrm>
        </p:spPr>
        <p:txBody>
          <a:bodyPr/>
          <a:lstStyle/>
          <a:p>
            <a:r>
              <a:rPr lang="de-DE" noProof="0" dirty="0">
                <a:solidFill>
                  <a:srgbClr val="F2E9E6"/>
                </a:solidFill>
              </a:rPr>
              <a:t>Git-Repository für das Projekt erstellt</a:t>
            </a:r>
          </a:p>
          <a:p>
            <a:r>
              <a:rPr lang="de-DE" dirty="0">
                <a:solidFill>
                  <a:srgbClr val="F2E9E6"/>
                </a:solidFill>
              </a:rPr>
              <a:t>Regelmäßige Sicherung des Arbeitsstands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CB113A-1CEB-6A59-09A9-5F4520F0A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9C2B2D-2ABC-88B0-D18E-5674CF85F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AF3669-8286-CEB8-7374-AEC22CCC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7</a:t>
            </a:fld>
            <a:endParaRPr lang="en-DE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CB93C63-5B61-8E2D-24BB-0DFF4FCDCE98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6B5B1330-9AA2-1953-F71E-04D5C654F1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571" y="1825625"/>
            <a:ext cx="5542229" cy="3455869"/>
          </a:xfrm>
          <a:prstGeom prst="rect">
            <a:avLst/>
          </a:prstGeom>
          <a:ln w="19050">
            <a:solidFill>
              <a:srgbClr val="31B4E3"/>
            </a:solidFill>
          </a:ln>
        </p:spPr>
      </p:pic>
    </p:spTree>
    <p:extLst>
      <p:ext uri="{BB962C8B-B14F-4D97-AF65-F5344CB8AC3E}">
        <p14:creationId xmlns:p14="http://schemas.microsoft.com/office/powerpoint/2010/main" val="1156389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1D811-6AE8-854B-6DB4-8D6740C0A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7ABBE-BD5E-3E39-CC48-7ADDD3D34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SQL-CREATE-TABLE-ANWEISUNGEN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3D5FDE7-FFB2-FE9B-8066-4D378535B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65253" y="1854777"/>
            <a:ext cx="5832764" cy="4300177"/>
          </a:xfrm>
          <a:prstGeom prst="rect">
            <a:avLst/>
          </a:prstGeom>
          <a:ln w="19050">
            <a:solidFill>
              <a:srgbClr val="31B4E3"/>
            </a:solidFill>
          </a:ln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1EE34-5E8E-50DC-912F-596DEF64B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7FFDB-AA7F-2873-B16A-4F66BF04A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60BF2B-DEA4-69E2-9FC5-57584A290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8</a:t>
            </a:fld>
            <a:endParaRPr lang="en-DE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4F66579-FC40-A026-6DA1-E5511B1867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5436" y="1854777"/>
            <a:ext cx="4475016" cy="4294207"/>
          </a:xfrm>
          <a:prstGeom prst="rect">
            <a:avLst/>
          </a:prstGeom>
          <a:ln w="19050">
            <a:solidFill>
              <a:srgbClr val="31B4E3"/>
            </a:solidFill>
          </a:ln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D345300-B140-D321-EB22-E084B3FBAEA1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41997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B8B7C-7B7C-05FB-7FBA-2BDDF7683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8431E-C292-56BB-46FB-6BADF87A5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MESSDATEN ALS CSV-DATEIEN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CB3DB-CF85-0443-E6C2-FF81A250A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41937" cy="4351338"/>
          </a:xfrm>
        </p:spPr>
        <p:txBody>
          <a:bodyPr/>
          <a:lstStyle/>
          <a:p>
            <a:r>
              <a:rPr lang="de-DE" noProof="0" dirty="0">
                <a:solidFill>
                  <a:srgbClr val="F2E9E6"/>
                </a:solidFill>
              </a:rPr>
              <a:t>DHT22</a:t>
            </a:r>
            <a:br>
              <a:rPr lang="de-DE" noProof="0" dirty="0">
                <a:solidFill>
                  <a:srgbClr val="F2E9E6"/>
                </a:solidFill>
              </a:rPr>
            </a:br>
            <a:r>
              <a:rPr lang="de-DE" noProof="0" dirty="0">
                <a:solidFill>
                  <a:srgbClr val="F2E9E6"/>
                </a:solidFill>
              </a:rPr>
              <a:t>-&gt; Wetterdaten</a:t>
            </a:r>
          </a:p>
          <a:p>
            <a:r>
              <a:rPr lang="de-DE" dirty="0">
                <a:solidFill>
                  <a:srgbClr val="F2E9E6"/>
                </a:solidFill>
              </a:rPr>
              <a:t>SDS011</a:t>
            </a:r>
            <a:br>
              <a:rPr lang="de-DE" dirty="0">
                <a:solidFill>
                  <a:srgbClr val="F2E9E6"/>
                </a:solidFill>
              </a:rPr>
            </a:br>
            <a:r>
              <a:rPr lang="de-DE" dirty="0">
                <a:solidFill>
                  <a:srgbClr val="F2E9E6"/>
                </a:solidFill>
              </a:rPr>
              <a:t>-&gt; Luftqualitätsdaten</a:t>
            </a:r>
          </a:p>
          <a:p>
            <a:r>
              <a:rPr lang="de-DE" noProof="0" dirty="0">
                <a:solidFill>
                  <a:srgbClr val="F2E9E6"/>
                </a:solidFill>
              </a:rPr>
              <a:t>Große Datenmenge</a:t>
            </a:r>
            <a:br>
              <a:rPr lang="de-DE" noProof="0" dirty="0">
                <a:solidFill>
                  <a:srgbClr val="F2E9E6"/>
                </a:solidFill>
              </a:rPr>
            </a:br>
            <a:r>
              <a:rPr lang="de-DE" noProof="0" dirty="0">
                <a:solidFill>
                  <a:srgbClr val="F2E9E6"/>
                </a:solidFill>
              </a:rPr>
              <a:t>-&gt; automatisierter Import notwendig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F45260-81AF-BB88-3810-2DE12D297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BFDE62-A0F7-1CDD-58EF-782260B29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EFEB0E-3E9A-7D6A-67D4-DB24E05AD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9</a:t>
            </a:fld>
            <a:endParaRPr lang="en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248496C-0A0E-B320-5187-48AF0F3A1D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1825625"/>
            <a:ext cx="5753100" cy="1895475"/>
          </a:xfrm>
          <a:prstGeom prst="rect">
            <a:avLst/>
          </a:prstGeom>
          <a:ln w="19050">
            <a:solidFill>
              <a:srgbClr val="31B4E3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8CD164A-1CC8-376E-666C-22D5D7C1F5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4240050"/>
            <a:ext cx="5753100" cy="1666244"/>
          </a:xfrm>
          <a:prstGeom prst="rect">
            <a:avLst/>
          </a:prstGeom>
          <a:ln w="19050">
            <a:solidFill>
              <a:srgbClr val="31B4E3"/>
            </a:solidFill>
          </a:ln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67FAD84-7130-4765-A9A6-AD3F8F7456CC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38253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18086-AC65-7A9E-41A8-185E5BB98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8CA85-17FE-C209-266D-FD448802E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IMPORT MIT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33324D-A278-CF46-8EA3-B62F152E5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91629" cy="4351338"/>
          </a:xfrm>
        </p:spPr>
        <p:txBody>
          <a:bodyPr/>
          <a:lstStyle/>
          <a:p>
            <a:r>
              <a:rPr lang="de-DE" noProof="0" dirty="0">
                <a:solidFill>
                  <a:srgbClr val="F2E9E6"/>
                </a:solidFill>
              </a:rPr>
              <a:t>Python-Skript liest alle CSV-Dateien im Ordner aus</a:t>
            </a:r>
          </a:p>
          <a:p>
            <a:r>
              <a:rPr lang="de-DE" dirty="0">
                <a:solidFill>
                  <a:srgbClr val="F2E9E6"/>
                </a:solidFill>
              </a:rPr>
              <a:t>Erkennt den Sensortyp automatisch</a:t>
            </a:r>
          </a:p>
          <a:p>
            <a:r>
              <a:rPr lang="de-DE" noProof="0" dirty="0">
                <a:solidFill>
                  <a:srgbClr val="F2E9E6"/>
                </a:solidFill>
              </a:rPr>
              <a:t>Schreibt DHT22-Daten in weather</a:t>
            </a:r>
          </a:p>
          <a:p>
            <a:r>
              <a:rPr lang="de-DE" dirty="0">
                <a:solidFill>
                  <a:srgbClr val="F2E9E6"/>
                </a:solidFill>
              </a:rPr>
              <a:t>Schreibt SDS011-Daten in air_quality</a:t>
            </a:r>
          </a:p>
          <a:p>
            <a:r>
              <a:rPr lang="de-DE" noProof="0" dirty="0">
                <a:solidFill>
                  <a:srgbClr val="F2E9E6"/>
                </a:solidFill>
              </a:rPr>
              <a:t>Verbindung zur SQLite-Datenbank über sqlite3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0140FF-0105-7BBD-9B26-A7EADBB96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0A496E-8B9F-A9B4-183F-F7C28317D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DBEEC-7D0D-8EC7-39E0-49C94CA61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10</a:t>
            </a:fld>
            <a:endParaRPr lang="en-DE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0128EA5-C2E1-C32B-2515-B64B94D56D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990" y="1825625"/>
            <a:ext cx="1251410" cy="4192856"/>
          </a:xfrm>
          <a:prstGeom prst="rect">
            <a:avLst/>
          </a:prstGeom>
          <a:ln w="19050">
            <a:solidFill>
              <a:srgbClr val="31B4E3"/>
            </a:solidFill>
          </a:ln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0F95C8-F5D1-6132-ECC7-C8BE33A61C9D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31463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2C4F9-E09C-2748-B977-C7A777C6F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BB0F9-6BD4-AB68-0914-C70EC4FC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IMPORT MIT PYTHON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062EC1-0FA5-7F8B-3E68-3A46089EB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0BACAC-D7AD-9B6C-DE4F-34337042C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11F549-7520-D1F3-D329-465AD2C5A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11</a:t>
            </a:fld>
            <a:endParaRPr lang="en-DE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27E6A07-986A-1717-7B31-9FB19E7630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7863"/>
          <a:stretch>
            <a:fillRect/>
          </a:stretch>
        </p:blipFill>
        <p:spPr>
          <a:xfrm>
            <a:off x="838199" y="1690687"/>
            <a:ext cx="10515599" cy="4276001"/>
          </a:xfrm>
          <a:prstGeom prst="rect">
            <a:avLst/>
          </a:prstGeom>
          <a:ln w="19050">
            <a:solidFill>
              <a:srgbClr val="31B4E3"/>
            </a:solidFill>
          </a:ln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48E8171-4EFC-C1BA-32B5-7D58C812D0C9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7549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00790-B9FF-3E0C-53F8-29CF9EC3E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239E1-0101-D0E0-15C7-D9F136173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IMPORT MIT PYTHON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49C88-86F1-86C7-5516-C76BA3372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952E9-1C92-5B78-E181-25EA09660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A80B58-8CB6-21A0-848F-DD746419B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12</a:t>
            </a:fld>
            <a:endParaRPr lang="en-DE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B0AF962-17F1-31F1-6E4C-47BC6CDC0C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741" b="75122"/>
          <a:stretch>
            <a:fillRect/>
          </a:stretch>
        </p:blipFill>
        <p:spPr>
          <a:xfrm>
            <a:off x="838199" y="1690687"/>
            <a:ext cx="10515599" cy="4276001"/>
          </a:xfrm>
          <a:prstGeom prst="rect">
            <a:avLst/>
          </a:prstGeom>
          <a:ln w="19050">
            <a:solidFill>
              <a:srgbClr val="31B4E3"/>
            </a:solidFill>
          </a:ln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A201463-1468-272F-35A5-CFF143766018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35950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201F8-95CC-18E4-065B-84E4D9DDA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FC4F5-65DF-5A3B-F9E1-E4E1666BE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IMPORT MIT PYTHON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AD0B75-5159-7F0C-0455-2FED2B143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17ED01-E2D8-7BA6-C646-D9FD20A3E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7EBB2C-9EAB-F678-42ED-B6261367E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13</a:t>
            </a:fld>
            <a:endParaRPr lang="en-DE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717E4FA-E68E-2957-89A3-815F929497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29" b="67434"/>
          <a:stretch>
            <a:fillRect/>
          </a:stretch>
        </p:blipFill>
        <p:spPr>
          <a:xfrm>
            <a:off x="838199" y="1690687"/>
            <a:ext cx="10515599" cy="4276001"/>
          </a:xfrm>
          <a:prstGeom prst="rect">
            <a:avLst/>
          </a:prstGeom>
          <a:ln w="19050">
            <a:solidFill>
              <a:srgbClr val="31B4E3"/>
            </a:solidFill>
          </a:ln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CBA169A-A4EF-04D4-86E4-3DB3CAAB05C3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68103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FD5AC-16F2-3E23-491F-30A21FCB2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17F2F-B918-4176-88ED-E07EEFB4B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IMPORT MIT PYTHON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3C2B54-8E7D-2F2F-F990-740994A69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40C5E-B186-0C8C-A16B-C6766A506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0FF9F7-0472-440B-DF8A-AD0FC01A4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14</a:t>
            </a:fld>
            <a:endParaRPr lang="en-DE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C0B40FD-A9C8-81EA-D5B3-94FD13CB1E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701" b="54162"/>
          <a:stretch>
            <a:fillRect/>
          </a:stretch>
        </p:blipFill>
        <p:spPr>
          <a:xfrm>
            <a:off x="838199" y="1690687"/>
            <a:ext cx="10515599" cy="4276001"/>
          </a:xfrm>
          <a:prstGeom prst="rect">
            <a:avLst/>
          </a:prstGeom>
          <a:ln w="19050">
            <a:solidFill>
              <a:srgbClr val="31B4E3"/>
            </a:solidFill>
          </a:ln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ED00E9F-D741-27AE-CCEE-4CB9F6A558FE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0881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B1E4A-63A7-8CA1-0CDE-7DD3D37DA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13142-5150-97A4-6809-BEA124F67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IMPORT MIT PYTHON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D8F03E-08EB-3628-DAF3-71B301E82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51235D-ED10-F2D1-B3A5-B8DFDE04F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FE262D-EE1B-C312-8846-AF9AE271B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15</a:t>
            </a:fld>
            <a:endParaRPr lang="en-DE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CDEC3D-1D08-4A8D-1EDE-DF6756075B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239" b="51624"/>
          <a:stretch>
            <a:fillRect/>
          </a:stretch>
        </p:blipFill>
        <p:spPr>
          <a:xfrm>
            <a:off x="838199" y="1690687"/>
            <a:ext cx="10515599" cy="4276001"/>
          </a:xfrm>
          <a:prstGeom prst="rect">
            <a:avLst/>
          </a:prstGeom>
          <a:ln>
            <a:solidFill>
              <a:srgbClr val="F2E9E6"/>
            </a:solidFill>
          </a:ln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35C481F-DB80-7706-C684-E2A19BCA1AD4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0600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4AD24-47B5-F666-17BC-764663676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459BE-CF48-F3BB-791C-6712EA73D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IMPORT MIT PYTHON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43342A-42B2-EE59-7149-EB75039FA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30E3E7-A3CE-5FF4-CC08-FE9F99D10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E47ECA-E037-EF14-BC38-0502C77E4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16</a:t>
            </a:fld>
            <a:endParaRPr lang="en-DE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9BF3A4F-2198-E7B9-2A96-3F907F363B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570" b="38293"/>
          <a:stretch>
            <a:fillRect/>
          </a:stretch>
        </p:blipFill>
        <p:spPr>
          <a:xfrm>
            <a:off x="838199" y="1690687"/>
            <a:ext cx="10515599" cy="4276001"/>
          </a:xfrm>
          <a:prstGeom prst="rect">
            <a:avLst/>
          </a:prstGeom>
          <a:ln w="19050">
            <a:solidFill>
              <a:srgbClr val="F2E9E6"/>
            </a:solidFill>
          </a:ln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A303A34-630A-86CC-A14A-49BA42620D6F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79450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31852-147C-41D6-9314-6E3042764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5C02E-F240-5C30-62CE-202FD6687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IMPORT MIT PYTHON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B924A-56C2-43CD-7FA4-D78296C83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B393E-C622-7513-CBAB-2C8697550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E7A25-5C61-D6A4-25AE-6983A7F93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17</a:t>
            </a:fld>
            <a:endParaRPr lang="en-DE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9E00702-A463-03CD-40EF-E2BA254043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915" b="33948"/>
          <a:stretch>
            <a:fillRect/>
          </a:stretch>
        </p:blipFill>
        <p:spPr>
          <a:xfrm>
            <a:off x="838199" y="1690687"/>
            <a:ext cx="10515599" cy="4276001"/>
          </a:xfrm>
          <a:prstGeom prst="rect">
            <a:avLst/>
          </a:prstGeom>
          <a:ln w="19050">
            <a:solidFill>
              <a:srgbClr val="31B4E3"/>
            </a:solidFill>
          </a:ln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34D5093-22C9-7BF0-DD4E-94918E47C8EF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81507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4126F-1B5D-74F3-E83B-7AD78A7E9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A45CF-595C-839E-FBF5-71AB4C3D5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IMPORT MIT PYTHON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ACFDE-B966-AAE6-23A0-3994B4967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E09DFF-10FC-AAE7-4899-1BD04BEDA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E8DCC8-668B-A89C-1C1B-F10ED0217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18</a:t>
            </a:fld>
            <a:endParaRPr lang="en-DE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F538AF8-B748-79F5-BCA7-F9AD489866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28" b="20735"/>
          <a:stretch>
            <a:fillRect/>
          </a:stretch>
        </p:blipFill>
        <p:spPr>
          <a:xfrm>
            <a:off x="838199" y="1690687"/>
            <a:ext cx="10515599" cy="4276001"/>
          </a:xfrm>
          <a:prstGeom prst="rect">
            <a:avLst/>
          </a:prstGeom>
          <a:ln w="19050">
            <a:solidFill>
              <a:srgbClr val="31B4E3"/>
            </a:solidFill>
          </a:ln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52CB089-E89B-0A54-C526-10539EA1A831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837709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21F79-5403-D009-102C-838E94C32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41770-44E8-884A-0DA8-E72454BAC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IMPORT MIT PYTHON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5CB8AA-6E9C-1090-8305-5CD8D2417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68141-F1CE-47A3-AC0E-FB31A68DB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24A904-0FD3-6AC8-3AE8-B467401A8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19</a:t>
            </a:fld>
            <a:endParaRPr lang="en-DE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BBE691A-FA0E-1E3E-95BF-582FC161C3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181" b="8682"/>
          <a:stretch>
            <a:fillRect/>
          </a:stretch>
        </p:blipFill>
        <p:spPr>
          <a:xfrm>
            <a:off x="838199" y="1690687"/>
            <a:ext cx="10515599" cy="4276001"/>
          </a:xfrm>
          <a:prstGeom prst="rect">
            <a:avLst/>
          </a:prstGeom>
          <a:ln w="19050">
            <a:solidFill>
              <a:srgbClr val="31B4E3"/>
            </a:solidFill>
          </a:ln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AE5C0A4-FE5C-4285-39E2-27B6CB5EE54C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71530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D538F-BBA1-6ADE-6CEA-81441CBA5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5AE7C-9988-E28F-E9C7-F81B4BD50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IMPORT MIT PYTHON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108DF4-2CF5-7E78-746B-243A46410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69354C-6FE0-A0E3-86F3-FE8EBD5CD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67BCD6-306A-D4B2-86E6-AB0EF919D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20</a:t>
            </a:fld>
            <a:endParaRPr lang="en-DE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0B31A40-61B4-50C8-375D-BE2268CBC6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7852" b="11"/>
          <a:stretch>
            <a:fillRect/>
          </a:stretch>
        </p:blipFill>
        <p:spPr>
          <a:xfrm>
            <a:off x="838199" y="1690687"/>
            <a:ext cx="10515599" cy="4276001"/>
          </a:xfrm>
          <a:prstGeom prst="rect">
            <a:avLst/>
          </a:prstGeom>
          <a:ln w="19050">
            <a:solidFill>
              <a:srgbClr val="31B4E3"/>
            </a:solidFill>
          </a:ln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A16B1F3-F171-2B93-A524-033BA743D2FB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59237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C20586-A7E3-619E-884D-5FCDF88CE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20896-0C96-9A8B-A513-81FEDADEB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SQL-ABFRAGEN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08857-CE6A-6A09-6606-3707C509C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4DFECA-5BEA-EB25-2D14-51C1EF8EB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A8491C-F6A6-5F62-0A95-A65563393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21</a:t>
            </a:fld>
            <a:endParaRPr lang="en-DE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F95D014-2E40-F464-7221-2B7B40EE83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79552"/>
            <a:ext cx="5592255" cy="1885951"/>
          </a:xfrm>
          <a:prstGeom prst="rect">
            <a:avLst/>
          </a:prstGeom>
          <a:ln w="19050">
            <a:solidFill>
              <a:srgbClr val="31B4E3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84DED37-F29B-F692-79C7-5BC4D635D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0475" y="1779552"/>
            <a:ext cx="4773325" cy="2308554"/>
          </a:xfrm>
          <a:prstGeom prst="rect">
            <a:avLst/>
          </a:prstGeom>
          <a:ln w="19050">
            <a:solidFill>
              <a:srgbClr val="31B4E3"/>
            </a:solidFill>
          </a:ln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4E1FA72-6AD2-AC18-C1B9-6DF4EF414366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91655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C5BF6-5873-C731-0BC3-53CDBED6E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91CD6-0082-9E36-6742-20130F569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FAZIT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B4C65A-8F45-E62A-19F4-A8E1E7BDA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F2E9E6"/>
                </a:solidFill>
              </a:rPr>
              <a:t>Datenbankprojekt von Planung bis Import umgesetzt</a:t>
            </a:r>
          </a:p>
          <a:p>
            <a:r>
              <a:rPr lang="de-DE" dirty="0">
                <a:solidFill>
                  <a:srgbClr val="F2E9E6"/>
                </a:solidFill>
              </a:rPr>
              <a:t>Datenmodellierung, SQL, Git und Python</a:t>
            </a:r>
          </a:p>
          <a:p>
            <a:r>
              <a:rPr lang="de-DE" noProof="0" dirty="0">
                <a:solidFill>
                  <a:srgbClr val="F2E9E6"/>
                </a:solidFill>
              </a:rPr>
              <a:t>Grundlage für zukünftige Datenanalysen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30CDE-48BC-E39A-21C7-85635064B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BE47A-5E49-1277-C537-976B6A7F9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0420E7-2106-A7A4-F38B-E94DD3388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22</a:t>
            </a:fld>
            <a:endParaRPr lang="en-DE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8E3ED9A-6683-6BF6-63C2-72528A610A4E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47731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47EBB-3690-9923-3254-81B9E3DED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DAS HAT BESONDERS GUT FUNKTIONIERT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9D987-0FFA-9A60-6663-13BF251A5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F2E9E6"/>
                </a:solidFill>
              </a:rPr>
              <a:t>Arbeit bei Vonovia oft mit Tabellen</a:t>
            </a:r>
          </a:p>
          <a:p>
            <a:r>
              <a:rPr lang="de-DE" dirty="0">
                <a:solidFill>
                  <a:srgbClr val="F2E9E6"/>
                </a:solidFill>
              </a:rPr>
              <a:t>SQL und Tabellenstrukturen daher schnell verständlich</a:t>
            </a:r>
          </a:p>
          <a:p>
            <a:r>
              <a:rPr lang="de-DE" noProof="0" dirty="0">
                <a:solidFill>
                  <a:srgbClr val="F2E9E6"/>
                </a:solidFill>
              </a:rPr>
              <a:t>Einfache Tests der SELECT-Abfragen</a:t>
            </a:r>
          </a:p>
          <a:p>
            <a:endParaRPr lang="de-DE" noProof="0" dirty="0">
              <a:solidFill>
                <a:srgbClr val="F2E9E6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ACC1CE-E3EF-8557-EAB8-FD4099842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8A687A-902E-5946-CAEA-889907F90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20EC93-74FD-1F3B-9957-4A75F9871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23</a:t>
            </a:fld>
            <a:endParaRPr lang="en-DE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0BD8B45-4504-1DE9-920D-3D30502B5B88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18844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2321-ED14-2942-43F9-CFC0AFBC1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B19BE-D1EF-9D93-1616-51B4D115B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31B4E3"/>
                </a:solidFill>
              </a:rPr>
              <a:t>DAS MACHEN WIR NÄCHSTES MAL BESSER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E1ADB0-C2E9-395E-DA08-1D71DF523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noProof="0" dirty="0">
                <a:solidFill>
                  <a:srgbClr val="F2E9E6"/>
                </a:solidFill>
              </a:rPr>
              <a:t>Importversuche nicht mehr über SQLite Studio</a:t>
            </a:r>
          </a:p>
          <a:p>
            <a:r>
              <a:rPr lang="de-DE" dirty="0">
                <a:solidFill>
                  <a:srgbClr val="F2E9E6"/>
                </a:solidFill>
              </a:rPr>
              <a:t>Direkt mit Python</a:t>
            </a:r>
            <a:endParaRPr lang="de-DE" noProof="0" dirty="0">
              <a:solidFill>
                <a:srgbClr val="F2E9E6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38BBDC-FEBA-564A-AB95-9E5959025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DE"/>
              <a:t>11. Mai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3659F0-B2A1-DF11-3439-953F82CA7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Feinstaub-Projekt | Vonovia Villains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A3D85D-BD18-AF3A-2039-CC94935BC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B8FB7-1C2B-4A91-97AE-137A4C47E94A}" type="slidenum">
              <a:rPr lang="en-DE" smtClean="0"/>
              <a:t>24</a:t>
            </a:fld>
            <a:endParaRPr lang="en-DE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34F5410-F304-C550-0A4B-9880798AA791}"/>
              </a:ext>
            </a:extLst>
          </p:cNvPr>
          <p:cNvCxnSpPr>
            <a:cxnSpLocks/>
          </p:cNvCxnSpPr>
          <p:nvPr/>
        </p:nvCxnSpPr>
        <p:spPr>
          <a:xfrm>
            <a:off x="838200" y="1508426"/>
            <a:ext cx="10515600" cy="0"/>
          </a:xfrm>
          <a:prstGeom prst="line">
            <a:avLst/>
          </a:prstGeom>
          <a:ln>
            <a:solidFill>
              <a:srgbClr val="31B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282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429</Words>
  <Application>Microsoft Office PowerPoint</Application>
  <PresentationFormat>Widescreen</PresentationFormat>
  <Paragraphs>123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Office Theme</vt:lpstr>
      <vt:lpstr>FEINSTAUB-PROJEKT</vt:lpstr>
      <vt:lpstr>ZIEL DES PROJEKTS</vt:lpstr>
      <vt:lpstr>PROJEKTABLAUF</vt:lpstr>
      <vt:lpstr>PFLICHTENHEFT</vt:lpstr>
      <vt:lpstr>ENTITY-RELATIONSHIP-MODELL</vt:lpstr>
      <vt:lpstr>RELATIONENMODELL</vt:lpstr>
      <vt:lpstr>GIT-REPOSITORY</vt:lpstr>
      <vt:lpstr>SQL-CREATE-TABLE-ANWEISUNGEN</vt:lpstr>
      <vt:lpstr>MESSDATEN ALS CSV-DATEIEN</vt:lpstr>
      <vt:lpstr>IMPORT MIT PYTHON</vt:lpstr>
      <vt:lpstr>IMPORT MIT PYTHON</vt:lpstr>
      <vt:lpstr>IMPORT MIT PYTHON</vt:lpstr>
      <vt:lpstr>IMPORT MIT PYTHON</vt:lpstr>
      <vt:lpstr>IMPORT MIT PYTHON</vt:lpstr>
      <vt:lpstr>IMPORT MIT PYTHON</vt:lpstr>
      <vt:lpstr>IMPORT MIT PYTHON</vt:lpstr>
      <vt:lpstr>IMPORT MIT PYTHON</vt:lpstr>
      <vt:lpstr>IMPORT MIT PYTHON</vt:lpstr>
      <vt:lpstr>IMPORT MIT PYTHON</vt:lpstr>
      <vt:lpstr>IMPORT MIT PYTHON</vt:lpstr>
      <vt:lpstr>SQL-ABFRAGEN</vt:lpstr>
      <vt:lpstr>FAZIT</vt:lpstr>
      <vt:lpstr>DAS HAT BESONDERS GUT FUNKTIONIERT</vt:lpstr>
      <vt:lpstr>DAS MACHEN WIR NÄCHSTES MAL BESSER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- Lukas D.</dc:creator>
  <cp:lastModifiedBy>Tim - Lukas D.</cp:lastModifiedBy>
  <cp:revision>8</cp:revision>
  <dcterms:created xsi:type="dcterms:W3CDTF">2026-05-10T07:35:08Z</dcterms:created>
  <dcterms:modified xsi:type="dcterms:W3CDTF">2026-05-10T10:10:33Z</dcterms:modified>
</cp:coreProperties>
</file>